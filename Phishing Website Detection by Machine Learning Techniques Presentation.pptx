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13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311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727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937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855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679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70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02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5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954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430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430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695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440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960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70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168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640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9886">
              <a:srgbClr val="F9ECC6"/>
            </a:gs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80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  <p:sldLayoutId id="2147483981" r:id="rId13"/>
    <p:sldLayoutId id="2147483982" r:id="rId14"/>
    <p:sldLayoutId id="2147483983" r:id="rId15"/>
    <p:sldLayoutId id="2147483984" r:id="rId16"/>
    <p:sldLayoutId id="21474839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nb.ca/cic/datasets/url-2016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/>
          <p:nvPr/>
        </p:nvSpPr>
        <p:spPr>
          <a:xfrm>
            <a:off x="8841394" y="5181600"/>
            <a:ext cx="3315970" cy="11464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latin typeface="Arial"/>
                <a:cs typeface="Arial"/>
              </a:rPr>
              <a:t>S HEMALATHA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l-PL" sz="2400" dirty="0">
                <a:latin typeface="Arial"/>
                <a:cs typeface="Arial"/>
              </a:rPr>
              <a:t>24671D5804I </a:t>
            </a:r>
            <a:endParaRPr lang="en-IN"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l-PL" sz="2400" dirty="0">
                <a:latin typeface="Arial"/>
                <a:cs typeface="Arial"/>
              </a:rPr>
              <a:t>M.TECH</a:t>
            </a:r>
            <a:r>
              <a:rPr lang="en-IN" sz="2400" dirty="0">
                <a:latin typeface="Arial"/>
                <a:cs typeface="Arial"/>
              </a:rPr>
              <a:t> II</a:t>
            </a:r>
            <a:r>
              <a:rPr lang="pl-PL" sz="2400" dirty="0">
                <a:latin typeface="Arial"/>
                <a:cs typeface="Arial"/>
              </a:rPr>
              <a:t>/I SEM</a:t>
            </a:r>
            <a:endParaRPr lang="en-IN" sz="2400" dirty="0">
              <a:latin typeface="Arial"/>
              <a:cs typeface="Arial"/>
            </a:endParaRPr>
          </a:p>
        </p:txBody>
      </p:sp>
      <p:sp>
        <p:nvSpPr>
          <p:cNvPr id="9" name="object 8"/>
          <p:cNvSpPr txBox="1">
            <a:spLocks/>
          </p:cNvSpPr>
          <p:nvPr/>
        </p:nvSpPr>
        <p:spPr>
          <a:xfrm>
            <a:off x="1828800" y="2286000"/>
            <a:ext cx="8955405" cy="2494915"/>
          </a:xfrm>
          <a:prstGeom prst="rect">
            <a:avLst/>
          </a:prstGeom>
          <a:effectLst/>
        </p:spPr>
        <p:txBody>
          <a:bodyPr vert="horz" wrap="square" lIns="0" tIns="12700" rIns="0" bIns="0" rtlCol="0" anchor="ctr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marR="5080">
              <a:spcBef>
                <a:spcPts val="100"/>
              </a:spcBef>
            </a:pPr>
            <a:r>
              <a:rPr lang="en-US" sz="5400" b="1" spc="-459" dirty="0">
                <a:solidFill>
                  <a:srgbClr val="000000"/>
                </a:solidFill>
                <a:latin typeface="Arial"/>
                <a:cs typeface="Arial"/>
              </a:rPr>
              <a:t>PHISHING</a:t>
            </a:r>
            <a:r>
              <a:rPr lang="en-US" sz="5400" b="1" spc="-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5400" b="1" spc="-844" dirty="0">
                <a:solidFill>
                  <a:srgbClr val="000000"/>
                </a:solidFill>
                <a:latin typeface="Arial"/>
                <a:cs typeface="Arial"/>
              </a:rPr>
              <a:t>WEBSITE</a:t>
            </a:r>
            <a:r>
              <a:rPr lang="en-US" sz="5400" b="1" spc="-4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5400" b="1" spc="-605" dirty="0">
                <a:solidFill>
                  <a:srgbClr val="000000"/>
                </a:solidFill>
                <a:latin typeface="Arial"/>
                <a:cs typeface="Arial"/>
              </a:rPr>
              <a:t>DETECTION </a:t>
            </a:r>
            <a:r>
              <a:rPr lang="en-US" sz="5400" b="1" spc="-365" dirty="0">
                <a:solidFill>
                  <a:srgbClr val="000000"/>
                </a:solidFill>
                <a:latin typeface="Arial"/>
                <a:cs typeface="Arial"/>
              </a:rPr>
              <a:t>by</a:t>
            </a:r>
            <a:r>
              <a:rPr lang="en-US" sz="5400" b="1" spc="-6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5400" b="1" spc="-470" dirty="0">
                <a:solidFill>
                  <a:srgbClr val="000000"/>
                </a:solidFill>
                <a:latin typeface="Arial"/>
                <a:cs typeface="Arial"/>
              </a:rPr>
              <a:t>MACHINE</a:t>
            </a:r>
            <a:r>
              <a:rPr lang="en-US" sz="5400" b="1" spc="-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5400" b="1" spc="-505" dirty="0">
                <a:solidFill>
                  <a:srgbClr val="000000"/>
                </a:solidFill>
                <a:latin typeface="Arial"/>
                <a:cs typeface="Arial"/>
              </a:rPr>
              <a:t>LEARNING </a:t>
            </a:r>
            <a:r>
              <a:rPr lang="en-US" sz="5400" b="1" spc="-615" dirty="0">
                <a:solidFill>
                  <a:srgbClr val="000000"/>
                </a:solidFill>
                <a:latin typeface="Arial"/>
                <a:cs typeface="Arial"/>
              </a:rPr>
              <a:t>TECHNIQUES</a:t>
            </a:r>
            <a:endParaRPr lang="en-US" sz="5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29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4876" y="1144798"/>
            <a:ext cx="6922246" cy="843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78585">
              <a:lnSpc>
                <a:spcPct val="100000"/>
              </a:lnSpc>
              <a:spcBef>
                <a:spcPts val="95"/>
              </a:spcBef>
            </a:pPr>
            <a:r>
              <a:rPr sz="5400" b="1" spc="-42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7932" y="2286000"/>
            <a:ext cx="9716135" cy="4049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SzPct val="125000"/>
              <a:buChar char="•"/>
              <a:tabLst>
                <a:tab pos="240029" algn="l"/>
              </a:tabLst>
            </a:pPr>
            <a:r>
              <a:rPr sz="2000" spc="-2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Phishing</a:t>
            </a:r>
            <a:r>
              <a:rPr sz="2000" spc="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is</a:t>
            </a:r>
            <a:r>
              <a:rPr sz="2000" spc="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2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most</a:t>
            </a:r>
            <a:r>
              <a:rPr sz="20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2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commonly</a:t>
            </a:r>
            <a:r>
              <a:rPr sz="2000" spc="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2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used</a:t>
            </a:r>
            <a:r>
              <a:rPr sz="20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social</a:t>
            </a:r>
            <a:r>
              <a:rPr sz="2000" spc="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engineering</a:t>
            </a:r>
            <a:r>
              <a:rPr sz="2000" spc="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cyber</a:t>
            </a:r>
            <a:r>
              <a:rPr sz="2000" spc="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attack.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1300" marR="6985" indent="-228600">
              <a:lnSpc>
                <a:spcPts val="2110"/>
              </a:lnSpc>
              <a:spcBef>
                <a:spcPts val="980"/>
              </a:spcBef>
              <a:buSzPct val="125000"/>
              <a:buChar char="•"/>
              <a:tabLst>
                <a:tab pos="241300" algn="l"/>
                <a:tab pos="1242695" algn="l"/>
                <a:tab pos="1831975" algn="l"/>
                <a:tab pos="2809240" algn="l"/>
                <a:tab pos="3280410" algn="l"/>
                <a:tab pos="4199255" algn="l"/>
                <a:tab pos="5113655" algn="l"/>
                <a:tab pos="5839460" algn="l"/>
                <a:tab pos="6621145" algn="l"/>
                <a:tab pos="7294880" algn="l"/>
                <a:tab pos="7707630" algn="l"/>
                <a:tab pos="8645525" algn="l"/>
                <a:tab pos="9304020" algn="l"/>
              </a:tabLst>
            </a:pPr>
            <a:r>
              <a:rPr sz="2000" spc="-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Through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29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such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attacks,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phisher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targets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naïve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online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users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by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tricking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them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into </a:t>
            </a:r>
            <a:r>
              <a:rPr sz="20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revealing</a:t>
            </a:r>
            <a:r>
              <a:rPr sz="2000" spc="-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confidential</a:t>
            </a:r>
            <a:r>
              <a:rPr sz="20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information,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with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purpose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of</a:t>
            </a:r>
            <a:r>
              <a:rPr sz="2000" spc="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9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using</a:t>
            </a:r>
            <a:r>
              <a:rPr sz="20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it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fraudulently.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0029" indent="-227329">
              <a:lnSpc>
                <a:spcPct val="100000"/>
              </a:lnSpc>
              <a:spcBef>
                <a:spcPts val="500"/>
              </a:spcBef>
              <a:buSzPct val="125000"/>
              <a:buChar char="•"/>
              <a:tabLst>
                <a:tab pos="240029" algn="l"/>
              </a:tabLst>
            </a:pPr>
            <a:r>
              <a:rPr sz="2000" spc="-2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In</a:t>
            </a:r>
            <a:r>
              <a:rPr sz="20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order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to</a:t>
            </a:r>
            <a:r>
              <a:rPr sz="2000" spc="-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avoid</a:t>
            </a:r>
            <a:r>
              <a:rPr sz="2000" spc="-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getting</a:t>
            </a:r>
            <a:r>
              <a:rPr sz="2000" spc="-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phished,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50"/>
              </a:spcBef>
              <a:buSzPct val="123684"/>
              <a:buChar char="•"/>
              <a:tabLst>
                <a:tab pos="697865" algn="l"/>
              </a:tabLst>
            </a:pPr>
            <a:r>
              <a:rPr sz="2000" spc="-2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users</a:t>
            </a:r>
            <a:r>
              <a:rPr sz="2000" spc="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should</a:t>
            </a:r>
            <a:r>
              <a:rPr sz="2000" spc="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have</a:t>
            </a:r>
            <a:r>
              <a:rPr sz="2000" spc="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awareness</a:t>
            </a:r>
            <a:r>
              <a:rPr sz="2000" spc="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of</a:t>
            </a:r>
            <a:r>
              <a:rPr sz="2000" spc="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phishing</a:t>
            </a:r>
            <a:r>
              <a:rPr sz="2000" spc="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websites.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05"/>
              </a:spcBef>
              <a:buSzPct val="123684"/>
              <a:buChar char="•"/>
              <a:tabLst>
                <a:tab pos="698500" algn="l"/>
              </a:tabLst>
            </a:pPr>
            <a:r>
              <a:rPr sz="2000" spc="-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have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a</a:t>
            </a:r>
            <a:r>
              <a:rPr sz="20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blacklist</a:t>
            </a:r>
            <a:r>
              <a:rPr sz="20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of</a:t>
            </a:r>
            <a:r>
              <a:rPr sz="2000" spc="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phishing</a:t>
            </a:r>
            <a:r>
              <a:rPr sz="20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websites</a:t>
            </a:r>
            <a:r>
              <a:rPr sz="20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which</a:t>
            </a:r>
            <a:r>
              <a:rPr sz="20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requires</a:t>
            </a:r>
            <a:r>
              <a:rPr sz="2000" spc="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knowledge</a:t>
            </a:r>
            <a:r>
              <a:rPr sz="20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of</a:t>
            </a:r>
            <a:r>
              <a:rPr sz="2000" spc="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website</a:t>
            </a:r>
            <a:r>
              <a:rPr sz="20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being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detected </a:t>
            </a:r>
            <a:r>
              <a:rPr sz="2000" spc="-1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as</a:t>
            </a:r>
            <a:r>
              <a:rPr sz="20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phishing.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698500" marR="7620" lvl="1" indent="-228600">
              <a:lnSpc>
                <a:spcPts val="1820"/>
              </a:lnSpc>
              <a:spcBef>
                <a:spcPts val="495"/>
              </a:spcBef>
              <a:buSzPct val="123684"/>
              <a:buChar char="•"/>
              <a:tabLst>
                <a:tab pos="698500" algn="l"/>
              </a:tabLst>
            </a:pPr>
            <a:r>
              <a:rPr sz="2000" spc="-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detect</a:t>
            </a:r>
            <a:r>
              <a:rPr sz="2000" spc="1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them</a:t>
            </a:r>
            <a:r>
              <a:rPr sz="2000" spc="9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in</a:t>
            </a:r>
            <a:r>
              <a:rPr sz="2000" spc="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their</a:t>
            </a:r>
            <a:r>
              <a:rPr sz="2000" spc="1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early</a:t>
            </a:r>
            <a:r>
              <a:rPr sz="2000" spc="1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appearance,</a:t>
            </a:r>
            <a:r>
              <a:rPr sz="2000" spc="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using</a:t>
            </a:r>
            <a:r>
              <a:rPr sz="2000" spc="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machine</a:t>
            </a:r>
            <a:r>
              <a:rPr sz="2000" spc="9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learning</a:t>
            </a:r>
            <a:r>
              <a:rPr sz="2000" spc="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000" spc="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deep</a:t>
            </a:r>
            <a:r>
              <a:rPr sz="2000" spc="1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neural</a:t>
            </a:r>
            <a:r>
              <a:rPr sz="2000" spc="9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network </a:t>
            </a:r>
            <a:r>
              <a:rPr sz="2000" spc="-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algorithms.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0029" marR="7620" indent="-227329">
              <a:lnSpc>
                <a:spcPct val="80000"/>
              </a:lnSpc>
              <a:spcBef>
                <a:spcPts val="1005"/>
              </a:spcBef>
              <a:buSzPct val="125000"/>
              <a:buChar char="•"/>
              <a:tabLst>
                <a:tab pos="241300" algn="l"/>
                <a:tab pos="702945" algn="l"/>
                <a:tab pos="1186180" algn="l"/>
                <a:tab pos="2035175" algn="l"/>
                <a:tab pos="2801620" algn="l"/>
                <a:tab pos="3286760" algn="l"/>
                <a:tab pos="4336415" algn="l"/>
                <a:tab pos="5394325" algn="l"/>
                <a:tab pos="6236970" algn="l"/>
                <a:tab pos="7198995" algn="l"/>
                <a:tab pos="7499350" algn="l"/>
                <a:tab pos="8404860" algn="l"/>
                <a:tab pos="8766175" algn="l"/>
                <a:tab pos="9206230" algn="l"/>
              </a:tabLst>
            </a:pPr>
            <a:r>
              <a:rPr sz="2000" spc="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Of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above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three,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machine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learning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based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method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is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proven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to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be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	</a:t>
            </a:r>
            <a:r>
              <a:rPr sz="2000" spc="-229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most 	</a:t>
            </a:r>
            <a:r>
              <a:rPr sz="2000" spc="-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effective</a:t>
            </a:r>
            <a:r>
              <a:rPr sz="2000" spc="-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than</a:t>
            </a:r>
            <a:r>
              <a:rPr sz="20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other</a:t>
            </a:r>
            <a:r>
              <a:rPr sz="2000" spc="-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methods.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1300" marR="8890" indent="-228600">
              <a:lnSpc>
                <a:spcPts val="2110"/>
              </a:lnSpc>
              <a:spcBef>
                <a:spcPts val="980"/>
              </a:spcBef>
              <a:buSzPct val="125000"/>
              <a:buChar char="•"/>
              <a:tabLst>
                <a:tab pos="241300" algn="l"/>
              </a:tabLst>
            </a:pPr>
            <a:r>
              <a:rPr sz="2000" spc="-2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Even</a:t>
            </a:r>
            <a:r>
              <a:rPr sz="2000" spc="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then,</a:t>
            </a:r>
            <a:r>
              <a:rPr sz="20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online</a:t>
            </a:r>
            <a:r>
              <a:rPr sz="20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2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users</a:t>
            </a:r>
            <a:r>
              <a:rPr sz="2000" spc="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are</a:t>
            </a:r>
            <a:r>
              <a:rPr sz="2000" spc="-1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still</a:t>
            </a:r>
            <a:r>
              <a:rPr sz="20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being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trapped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into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revealing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sensitive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information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in </a:t>
            </a:r>
            <a:r>
              <a:rPr sz="2000" spc="-1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phishing</a:t>
            </a:r>
            <a:r>
              <a:rPr sz="2000" spc="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websites.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902194"/>
            <a:ext cx="7100860" cy="1119229"/>
          </a:xfrm>
          <a:prstGeom prst="rect">
            <a:avLst/>
          </a:prstGeom>
        </p:spPr>
        <p:txBody>
          <a:bodyPr vert="horz" wrap="square" lIns="0" tIns="194005" rIns="0" bIns="0" rtlCol="0">
            <a:spAutoFit/>
          </a:bodyPr>
          <a:lstStyle/>
          <a:p>
            <a:pPr marL="1849120">
              <a:lnSpc>
                <a:spcPct val="100000"/>
              </a:lnSpc>
              <a:spcBef>
                <a:spcPts val="95"/>
              </a:spcBef>
            </a:pPr>
            <a:r>
              <a:rPr sz="6000" b="1" spc="-56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800" y="2514600"/>
            <a:ext cx="9683750" cy="309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14400" algn="just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</a:t>
            </a:r>
            <a:r>
              <a:rPr sz="2400" spc="-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phishing</a:t>
            </a:r>
            <a:r>
              <a:rPr sz="2400" spc="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website</a:t>
            </a:r>
            <a:r>
              <a:rPr sz="24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is</a:t>
            </a:r>
            <a:r>
              <a:rPr sz="2400" spc="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</a:t>
            </a:r>
            <a:r>
              <a:rPr sz="2400" spc="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common</a:t>
            </a:r>
            <a:r>
              <a:rPr sz="2400" spc="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social</a:t>
            </a:r>
            <a:r>
              <a:rPr sz="2400" spc="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engineering</a:t>
            </a:r>
            <a:r>
              <a:rPr sz="2400" spc="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method</a:t>
            </a:r>
            <a:r>
              <a:rPr sz="24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that</a:t>
            </a:r>
            <a:r>
              <a:rPr sz="2400" spc="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mimics </a:t>
            </a:r>
            <a:r>
              <a:rPr sz="2400" spc="-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trustful</a:t>
            </a:r>
            <a:r>
              <a:rPr sz="24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uniform</a:t>
            </a:r>
            <a:r>
              <a:rPr sz="2400" spc="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resource</a:t>
            </a:r>
            <a:r>
              <a:rPr sz="2400" spc="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locators</a:t>
            </a:r>
            <a:r>
              <a:rPr sz="2400" spc="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3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(URLs)</a:t>
            </a:r>
            <a:r>
              <a:rPr sz="2400" spc="1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400" spc="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webpages.</a:t>
            </a:r>
            <a:r>
              <a:rPr sz="2400" spc="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400" spc="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objective</a:t>
            </a:r>
            <a:r>
              <a:rPr sz="2400" spc="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of</a:t>
            </a:r>
            <a:r>
              <a:rPr sz="2400" spc="1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this </a:t>
            </a:r>
            <a:r>
              <a:rPr sz="2400" spc="-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project</a:t>
            </a:r>
            <a:r>
              <a:rPr sz="2400" spc="-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is</a:t>
            </a:r>
            <a:r>
              <a:rPr sz="2400" spc="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to</a:t>
            </a:r>
            <a:r>
              <a:rPr sz="2400" spc="-1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train</a:t>
            </a:r>
            <a:r>
              <a:rPr sz="2400" spc="-1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machine</a:t>
            </a:r>
            <a:r>
              <a:rPr sz="2400" spc="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learning</a:t>
            </a:r>
            <a:r>
              <a:rPr sz="2400" spc="-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9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models</a:t>
            </a:r>
            <a:r>
              <a:rPr sz="2400" spc="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4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deep</a:t>
            </a:r>
            <a:r>
              <a:rPr sz="24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neural</a:t>
            </a:r>
            <a:r>
              <a:rPr sz="24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nets</a:t>
            </a:r>
            <a:r>
              <a:rPr sz="2400" spc="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5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on</a:t>
            </a:r>
            <a:r>
              <a:rPr sz="2400" spc="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4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dataset </a:t>
            </a:r>
            <a:r>
              <a:rPr sz="24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created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to</a:t>
            </a:r>
            <a:r>
              <a:rPr sz="2400" spc="-1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predict</a:t>
            </a:r>
            <a:r>
              <a:rPr sz="2400" spc="-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phishing</a:t>
            </a:r>
            <a:r>
              <a:rPr sz="24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websites.</a:t>
            </a:r>
            <a:r>
              <a:rPr sz="2400" spc="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Both</a:t>
            </a:r>
            <a:r>
              <a:rPr sz="2400" spc="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phishing</a:t>
            </a:r>
            <a:r>
              <a:rPr sz="24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400" spc="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benign</a:t>
            </a:r>
            <a:r>
              <a:rPr sz="24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5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URLs</a:t>
            </a:r>
            <a:r>
              <a:rPr sz="2400" spc="3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of</a:t>
            </a:r>
            <a:r>
              <a:rPr sz="2400" spc="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websites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are</a:t>
            </a:r>
            <a:r>
              <a:rPr sz="24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gathered</a:t>
            </a:r>
            <a:r>
              <a:rPr sz="2400" spc="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to</a:t>
            </a:r>
            <a:r>
              <a:rPr sz="2400" spc="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form</a:t>
            </a:r>
            <a:r>
              <a:rPr sz="2400" spc="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</a:t>
            </a:r>
            <a:r>
              <a:rPr sz="2400" spc="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dataset</a:t>
            </a:r>
            <a:r>
              <a:rPr sz="2400" spc="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400" spc="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from</a:t>
            </a:r>
            <a:r>
              <a:rPr sz="2400" spc="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them</a:t>
            </a:r>
            <a:r>
              <a:rPr sz="2400" spc="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required</a:t>
            </a:r>
            <a:r>
              <a:rPr sz="2400" spc="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4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URL</a:t>
            </a:r>
            <a:r>
              <a:rPr sz="2400" spc="25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400" spc="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website </a:t>
            </a:r>
            <a:r>
              <a:rPr sz="2400" spc="-1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content-</a:t>
            </a:r>
            <a:r>
              <a:rPr sz="2400" spc="-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based</a:t>
            </a:r>
            <a:r>
              <a:rPr sz="2400" spc="-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features</a:t>
            </a:r>
            <a:r>
              <a:rPr sz="2400" spc="-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are </a:t>
            </a:r>
            <a:r>
              <a:rPr sz="24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extracted.</a:t>
            </a:r>
            <a:r>
              <a:rPr sz="24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3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400" spc="1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performance</a:t>
            </a:r>
            <a:r>
              <a:rPr sz="24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level</a:t>
            </a:r>
            <a:r>
              <a:rPr sz="24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of</a:t>
            </a:r>
            <a:r>
              <a:rPr sz="2400" spc="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each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model</a:t>
            </a:r>
            <a:r>
              <a:rPr sz="24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is </a:t>
            </a:r>
            <a:r>
              <a:rPr sz="2400" spc="-2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measures</a:t>
            </a:r>
            <a:r>
              <a:rPr sz="24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4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compared.</a:t>
            </a:r>
            <a:endParaRPr sz="24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2477" y="990600"/>
            <a:ext cx="7227046" cy="1026896"/>
          </a:xfrm>
          <a:prstGeom prst="rect">
            <a:avLst/>
          </a:prstGeom>
        </p:spPr>
        <p:txBody>
          <a:bodyPr vert="horz" wrap="square" lIns="0" tIns="194005" rIns="0" bIns="0" rtlCol="0">
            <a:spAutoFit/>
          </a:bodyPr>
          <a:lstStyle/>
          <a:p>
            <a:pPr marL="1917700">
              <a:lnSpc>
                <a:spcPct val="100000"/>
              </a:lnSpc>
              <a:spcBef>
                <a:spcPts val="95"/>
              </a:spcBef>
            </a:pPr>
            <a:r>
              <a:rPr sz="5400" b="1" spc="-515" dirty="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0200" y="2362200"/>
            <a:ext cx="9641205" cy="434542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200" spc="-1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Below</a:t>
            </a:r>
            <a:r>
              <a:rPr sz="22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mentioned</a:t>
            </a:r>
            <a:r>
              <a:rPr sz="22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are</a:t>
            </a:r>
            <a:r>
              <a:rPr sz="2200" spc="-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2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steps</a:t>
            </a:r>
            <a:r>
              <a:rPr sz="22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involved</a:t>
            </a:r>
            <a:r>
              <a:rPr sz="2200" spc="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in</a:t>
            </a:r>
            <a:r>
              <a:rPr sz="2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2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completion</a:t>
            </a:r>
            <a:r>
              <a:rPr sz="22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of</a:t>
            </a:r>
            <a:r>
              <a:rPr sz="2200" spc="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this</a:t>
            </a:r>
            <a:r>
              <a:rPr sz="22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project:</a:t>
            </a:r>
            <a:endParaRPr sz="22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260"/>
              </a:spcBef>
              <a:buSzPct val="125000"/>
              <a:buChar char="•"/>
              <a:tabLst>
                <a:tab pos="241300" algn="l"/>
              </a:tabLst>
            </a:pPr>
            <a:r>
              <a:rPr sz="2000" spc="-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Collect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dataset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containing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phishing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legitimate</a:t>
            </a:r>
            <a:r>
              <a:rPr sz="20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websites</a:t>
            </a:r>
            <a:r>
              <a:rPr sz="2000" spc="-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from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open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source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platforms.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250"/>
              </a:spcBef>
              <a:buSzPct val="125000"/>
              <a:buChar char="•"/>
              <a:tabLst>
                <a:tab pos="241300" algn="l"/>
              </a:tabLst>
            </a:pP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Write</a:t>
            </a:r>
            <a:r>
              <a:rPr sz="20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 </a:t>
            </a:r>
            <a:r>
              <a:rPr sz="2000" spc="-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code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to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extract</a:t>
            </a:r>
            <a:r>
              <a:rPr sz="20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required</a:t>
            </a:r>
            <a:r>
              <a:rPr sz="2000" spc="-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9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features</a:t>
            </a:r>
            <a:r>
              <a:rPr sz="20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9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from</a:t>
            </a:r>
            <a:r>
              <a:rPr sz="20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3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URL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database.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235"/>
              </a:spcBef>
              <a:buSzPct val="125000"/>
              <a:buChar char="•"/>
              <a:tabLst>
                <a:tab pos="241300" algn="l"/>
              </a:tabLst>
            </a:pPr>
            <a:r>
              <a:rPr sz="2000" spc="-9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Analyze</a:t>
            </a:r>
            <a:r>
              <a:rPr sz="20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preprocess</a:t>
            </a:r>
            <a:r>
              <a:rPr sz="2000" spc="-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dataset</a:t>
            </a:r>
            <a:r>
              <a:rPr sz="2000" spc="-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by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using</a:t>
            </a:r>
            <a:r>
              <a:rPr sz="20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3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EDA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techniques.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235"/>
              </a:spcBef>
              <a:buSzPct val="125000"/>
              <a:buChar char="•"/>
              <a:tabLst>
                <a:tab pos="241300" algn="l"/>
              </a:tabLst>
            </a:pPr>
            <a:r>
              <a:rPr sz="2000" spc="-9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Divide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dataset</a:t>
            </a:r>
            <a:r>
              <a:rPr sz="20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into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training</a:t>
            </a:r>
            <a:r>
              <a:rPr sz="20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testing</a:t>
            </a:r>
            <a:r>
              <a:rPr sz="20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sets.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1300" marR="5080" indent="-229235">
              <a:lnSpc>
                <a:spcPct val="110000"/>
              </a:lnSpc>
              <a:spcBef>
                <a:spcPts val="1010"/>
              </a:spcBef>
              <a:buSzPct val="125000"/>
              <a:buChar char="•"/>
              <a:tabLst>
                <a:tab pos="241300" algn="l"/>
              </a:tabLst>
            </a:pPr>
            <a:r>
              <a:rPr sz="2000" spc="-3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Run</a:t>
            </a:r>
            <a:r>
              <a:rPr sz="20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selected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machine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learning</a:t>
            </a:r>
            <a:r>
              <a:rPr sz="20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deep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neural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network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algorithms</a:t>
            </a:r>
            <a:r>
              <a:rPr sz="20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like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SVM,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2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Random</a:t>
            </a:r>
            <a:r>
              <a:rPr sz="20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Forest, </a:t>
            </a:r>
            <a:r>
              <a:rPr sz="2000" spc="-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Autoencoder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on</a:t>
            </a:r>
            <a:r>
              <a:rPr sz="20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dataset.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235"/>
              </a:spcBef>
              <a:buSzPct val="125000"/>
              <a:buChar char="•"/>
              <a:tabLst>
                <a:tab pos="241300" algn="l"/>
              </a:tabLst>
            </a:pP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Write</a:t>
            </a:r>
            <a:r>
              <a:rPr sz="2000" spc="-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</a:t>
            </a:r>
            <a:r>
              <a:rPr sz="20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code</a:t>
            </a:r>
            <a:r>
              <a:rPr sz="20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for</a:t>
            </a:r>
            <a:r>
              <a:rPr sz="20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displaying</a:t>
            </a:r>
            <a:r>
              <a:rPr sz="20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evaluation</a:t>
            </a:r>
            <a:r>
              <a:rPr sz="20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result</a:t>
            </a:r>
            <a:r>
              <a:rPr sz="20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considering</a:t>
            </a:r>
            <a:r>
              <a:rPr sz="20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accuracy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metrics.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240"/>
              </a:spcBef>
              <a:buSzPct val="125000"/>
              <a:buChar char="•"/>
              <a:tabLst>
                <a:tab pos="241300" algn="l"/>
              </a:tabLst>
            </a:pP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Compare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obtained</a:t>
            </a:r>
            <a:r>
              <a:rPr sz="2000" spc="-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results</a:t>
            </a:r>
            <a:r>
              <a:rPr sz="2000" spc="-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for</a:t>
            </a:r>
            <a:r>
              <a:rPr sz="20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trained</a:t>
            </a:r>
            <a:r>
              <a:rPr sz="20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models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specify</a:t>
            </a:r>
            <a:r>
              <a:rPr sz="20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which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is</a:t>
            </a:r>
            <a:r>
              <a:rPr sz="20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better.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1" y="1066800"/>
            <a:ext cx="7467600" cy="934563"/>
          </a:xfrm>
          <a:prstGeom prst="rect">
            <a:avLst/>
          </a:prstGeom>
        </p:spPr>
        <p:txBody>
          <a:bodyPr vert="horz" wrap="square" lIns="0" tIns="194005" rIns="0" bIns="0" rtlCol="0">
            <a:spAutoFit/>
          </a:bodyPr>
          <a:lstStyle/>
          <a:p>
            <a:pPr marL="1134745">
              <a:lnSpc>
                <a:spcPct val="100000"/>
              </a:lnSpc>
              <a:spcBef>
                <a:spcPts val="95"/>
              </a:spcBef>
            </a:pPr>
            <a:r>
              <a:rPr sz="4800" b="1" spc="-530" dirty="0"/>
              <a:t>DATA</a:t>
            </a:r>
            <a:r>
              <a:rPr sz="4800" b="1" spc="-10" dirty="0"/>
              <a:t> </a:t>
            </a:r>
            <a:r>
              <a:rPr sz="4800" b="1" spc="-470" dirty="0"/>
              <a:t>COLLECTION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4125" y="2514600"/>
            <a:ext cx="9683750" cy="349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14604" indent="-229235" algn="just">
              <a:lnSpc>
                <a:spcPct val="120100"/>
              </a:lnSpc>
              <a:spcBef>
                <a:spcPts val="100"/>
              </a:spcBef>
              <a:buSzPct val="125000"/>
              <a:buChar char="•"/>
              <a:tabLst>
                <a:tab pos="241300" algn="l"/>
              </a:tabLst>
            </a:pPr>
            <a:r>
              <a:rPr sz="2400" spc="-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Legitimate</a:t>
            </a:r>
            <a:r>
              <a:rPr sz="2400" spc="-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4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URLs</a:t>
            </a:r>
            <a:r>
              <a:rPr sz="2400" spc="2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are</a:t>
            </a:r>
            <a:r>
              <a:rPr sz="24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collected</a:t>
            </a:r>
            <a:r>
              <a:rPr sz="2400" spc="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from</a:t>
            </a:r>
            <a:r>
              <a:rPr sz="2400" spc="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400" spc="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dataset</a:t>
            </a:r>
            <a:r>
              <a:rPr sz="2400" spc="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provided</a:t>
            </a:r>
            <a:r>
              <a:rPr sz="2400" spc="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by</a:t>
            </a:r>
            <a:r>
              <a:rPr sz="2400" spc="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9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University</a:t>
            </a:r>
            <a:r>
              <a:rPr sz="2400" spc="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of </a:t>
            </a:r>
            <a:r>
              <a:rPr sz="2400" spc="-1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New</a:t>
            </a:r>
            <a:r>
              <a:rPr sz="2400" spc="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Brunswick,</a:t>
            </a:r>
            <a:r>
              <a:rPr sz="2400" spc="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u="sng" spc="-60" dirty="0">
                <a:solidFill>
                  <a:srgbClr val="65AD30"/>
                </a:solidFill>
                <a:uFill>
                  <a:solidFill>
                    <a:srgbClr val="B8F955"/>
                  </a:solidFill>
                </a:u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https://www.unb.ca/cic/datasets/url-</a:t>
            </a:r>
            <a:r>
              <a:rPr sz="2400" u="sng" spc="-10" dirty="0">
                <a:uFill>
                  <a:solidFill>
                    <a:srgbClr val="B8F955"/>
                  </a:solidFill>
                </a:uFill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2016.html</a:t>
            </a:r>
            <a:r>
              <a:rPr sz="24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.</a:t>
            </a:r>
            <a:endParaRPr sz="24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1300" indent="-228600" algn="just">
              <a:lnSpc>
                <a:spcPct val="100000"/>
              </a:lnSpc>
              <a:spcBef>
                <a:spcPts val="1570"/>
              </a:spcBef>
              <a:buSzPct val="125000"/>
              <a:buChar char="•"/>
              <a:tabLst>
                <a:tab pos="241300" algn="l"/>
              </a:tabLst>
            </a:pPr>
            <a:r>
              <a:rPr sz="2400" spc="-2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From</a:t>
            </a:r>
            <a:r>
              <a:rPr sz="24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4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collection,</a:t>
            </a:r>
            <a:r>
              <a:rPr sz="2400" spc="-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5000</a:t>
            </a:r>
            <a:r>
              <a:rPr sz="2400" spc="-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4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URLs</a:t>
            </a:r>
            <a:r>
              <a:rPr sz="24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are</a:t>
            </a:r>
            <a:r>
              <a:rPr sz="24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randomly</a:t>
            </a:r>
            <a:r>
              <a:rPr sz="24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picked.</a:t>
            </a:r>
            <a:endParaRPr sz="24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1300" marR="5080" indent="-229235" algn="just">
              <a:lnSpc>
                <a:spcPct val="120000"/>
              </a:lnSpc>
              <a:spcBef>
                <a:spcPts val="1010"/>
              </a:spcBef>
              <a:buSzPct val="125000"/>
              <a:buChar char="•"/>
              <a:tabLst>
                <a:tab pos="241300" algn="l"/>
              </a:tabLst>
            </a:pPr>
            <a:r>
              <a:rPr sz="2400" spc="-1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Phishing</a:t>
            </a:r>
            <a:r>
              <a:rPr sz="24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4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URLs</a:t>
            </a:r>
            <a:r>
              <a:rPr sz="2400" spc="2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are</a:t>
            </a:r>
            <a:r>
              <a:rPr sz="2400" spc="-1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collected</a:t>
            </a:r>
            <a:r>
              <a:rPr sz="2400" spc="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from</a:t>
            </a:r>
            <a:r>
              <a:rPr sz="2400" spc="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opensource</a:t>
            </a:r>
            <a:r>
              <a:rPr sz="2400" spc="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service</a:t>
            </a:r>
            <a:r>
              <a:rPr sz="2400" spc="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called</a:t>
            </a:r>
            <a:r>
              <a:rPr sz="2400" spc="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PhishTank</a:t>
            </a:r>
            <a:r>
              <a:rPr sz="2400" spc="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.</a:t>
            </a:r>
            <a:r>
              <a:rPr sz="2400" spc="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3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This </a:t>
            </a:r>
            <a:r>
              <a:rPr sz="2400" spc="-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service</a:t>
            </a:r>
            <a:r>
              <a:rPr sz="2400" spc="-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provide</a:t>
            </a:r>
            <a:r>
              <a:rPr sz="24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</a:t>
            </a:r>
            <a:r>
              <a:rPr sz="2400" spc="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set</a:t>
            </a:r>
            <a:r>
              <a:rPr sz="2400" spc="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of</a:t>
            </a:r>
            <a:r>
              <a:rPr sz="2400" spc="1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phishing</a:t>
            </a:r>
            <a:r>
              <a:rPr sz="2400" spc="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4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URLs</a:t>
            </a:r>
            <a:r>
              <a:rPr sz="2400" spc="2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in</a:t>
            </a:r>
            <a:r>
              <a:rPr sz="2400" spc="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multiple</a:t>
            </a:r>
            <a:r>
              <a:rPr sz="2400" spc="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formats</a:t>
            </a:r>
            <a:r>
              <a:rPr sz="2400" spc="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like</a:t>
            </a:r>
            <a:r>
              <a:rPr sz="2400" spc="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3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csv,</a:t>
            </a:r>
            <a:r>
              <a:rPr sz="2400" spc="1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json</a:t>
            </a:r>
            <a:r>
              <a:rPr sz="2400" spc="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etc. </a:t>
            </a:r>
            <a:r>
              <a:rPr sz="24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that </a:t>
            </a:r>
            <a:r>
              <a:rPr sz="2400" spc="-1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gets</a:t>
            </a:r>
            <a:r>
              <a:rPr sz="24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updated</a:t>
            </a:r>
            <a:r>
              <a:rPr sz="24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hourly.</a:t>
            </a:r>
            <a:endParaRPr sz="24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1300" indent="-228600" algn="just">
              <a:lnSpc>
                <a:spcPct val="100000"/>
              </a:lnSpc>
              <a:spcBef>
                <a:spcPts val="1570"/>
              </a:spcBef>
              <a:buSzPct val="125000"/>
              <a:buChar char="•"/>
              <a:tabLst>
                <a:tab pos="241300" algn="l"/>
              </a:tabLst>
            </a:pPr>
            <a:r>
              <a:rPr sz="2400" spc="-2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Form</a:t>
            </a:r>
            <a:r>
              <a:rPr sz="24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4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obtained</a:t>
            </a:r>
            <a:r>
              <a:rPr sz="2400" spc="-9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collection,</a:t>
            </a:r>
            <a:r>
              <a:rPr sz="2400" spc="-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5000</a:t>
            </a:r>
            <a:r>
              <a:rPr sz="2400" spc="-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4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URLs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are</a:t>
            </a:r>
            <a:r>
              <a:rPr sz="24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randomly</a:t>
            </a:r>
            <a:r>
              <a:rPr sz="2400" spc="-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picked.</a:t>
            </a:r>
            <a:endParaRPr sz="24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8291" y="933367"/>
            <a:ext cx="7409753" cy="1026896"/>
          </a:xfrm>
          <a:prstGeom prst="rect">
            <a:avLst/>
          </a:prstGeom>
        </p:spPr>
        <p:txBody>
          <a:bodyPr vert="horz" wrap="square" lIns="0" tIns="194005" rIns="0" bIns="0" rtlCol="0">
            <a:spAutoFit/>
          </a:bodyPr>
          <a:lstStyle/>
          <a:p>
            <a:pPr marL="1026160">
              <a:lnSpc>
                <a:spcPct val="100000"/>
              </a:lnSpc>
              <a:spcBef>
                <a:spcPts val="95"/>
              </a:spcBef>
            </a:pPr>
            <a:r>
              <a:rPr sz="5400" b="1" spc="-730" dirty="0"/>
              <a:t>FEATURE</a:t>
            </a:r>
            <a:r>
              <a:rPr sz="5400" b="1" spc="10" dirty="0"/>
              <a:t> </a:t>
            </a:r>
            <a:r>
              <a:rPr sz="5400" b="1" spc="-565" dirty="0"/>
              <a:t>SELECTION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8800" y="2077989"/>
            <a:ext cx="6108700" cy="2702022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30"/>
              </a:spcBef>
              <a:buSzPct val="125000"/>
              <a:buChar char="•"/>
              <a:tabLst>
                <a:tab pos="241300" algn="l"/>
              </a:tabLst>
            </a:pPr>
            <a:r>
              <a:rPr sz="2400" spc="-2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4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following </a:t>
            </a:r>
            <a:r>
              <a:rPr sz="24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category</a:t>
            </a:r>
            <a:r>
              <a:rPr sz="2400" spc="-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of</a:t>
            </a:r>
            <a:r>
              <a:rPr sz="24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features</a:t>
            </a:r>
            <a:r>
              <a:rPr sz="2400" spc="-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are</a:t>
            </a:r>
            <a:r>
              <a:rPr sz="2400" spc="-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selected:</a:t>
            </a:r>
            <a:endParaRPr sz="24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1055"/>
              </a:spcBef>
              <a:buSzPct val="125000"/>
              <a:buChar char="•"/>
              <a:tabLst>
                <a:tab pos="698500" algn="l"/>
              </a:tabLst>
            </a:pPr>
            <a:r>
              <a:rPr sz="2000" spc="-1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Address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Bar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based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Features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969"/>
              </a:spcBef>
              <a:buSzPct val="125000"/>
              <a:buChar char="•"/>
              <a:tabLst>
                <a:tab pos="698500" algn="l"/>
              </a:tabLst>
            </a:pPr>
            <a:r>
              <a:rPr sz="2000" spc="-1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Domain</a:t>
            </a:r>
            <a:r>
              <a:rPr sz="20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based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Features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985"/>
              </a:spcBef>
              <a:buSzPct val="125000"/>
              <a:buChar char="•"/>
              <a:tabLst>
                <a:tab pos="698500" algn="l"/>
              </a:tabLst>
            </a:pPr>
            <a:r>
              <a:rPr sz="2000" spc="-2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HTML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&amp;</a:t>
            </a:r>
            <a:r>
              <a:rPr sz="2000" spc="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Javascript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based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Feature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505"/>
              </a:spcBef>
              <a:buSzPct val="125000"/>
              <a:buChar char="•"/>
              <a:tabLst>
                <a:tab pos="241300" algn="l"/>
              </a:tabLst>
            </a:pPr>
            <a:r>
              <a:rPr sz="2400" spc="-1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Address</a:t>
            </a:r>
            <a:r>
              <a:rPr sz="2400" spc="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Bar</a:t>
            </a:r>
            <a:r>
              <a:rPr sz="2400" spc="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based</a:t>
            </a:r>
            <a:r>
              <a:rPr sz="2400" spc="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Features</a:t>
            </a:r>
            <a:r>
              <a:rPr sz="24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considered</a:t>
            </a:r>
            <a:r>
              <a:rPr sz="2400" spc="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are:</a:t>
            </a:r>
            <a:endParaRPr sz="24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992820"/>
              </p:ext>
            </p:extLst>
          </p:nvPr>
        </p:nvGraphicFramePr>
        <p:xfrm>
          <a:off x="2286000" y="4811184"/>
          <a:ext cx="6995159" cy="17102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7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8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572">
                <a:tc>
                  <a:txBody>
                    <a:bodyPr/>
                    <a:lstStyle/>
                    <a:p>
                      <a:pPr marL="318135" indent="-286385">
                        <a:lnSpc>
                          <a:spcPts val="1989"/>
                        </a:lnSpc>
                        <a:buChar char="•"/>
                        <a:tabLst>
                          <a:tab pos="318135" algn="l"/>
                        </a:tabLst>
                      </a:pPr>
                      <a:r>
                        <a:rPr sz="1600" spc="-15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Domian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of</a:t>
                      </a:r>
                      <a:r>
                        <a:rPr sz="1600" spc="6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34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URL</a:t>
                      </a:r>
                      <a:endParaRPr sz="1600">
                        <a:solidFill>
                          <a:schemeClr val="tx1"/>
                        </a:solidFill>
                        <a:latin typeface="Yu Gothic UI Semibold" panose="020B0700000000000000" pitchFamily="34" charset="-128"/>
                        <a:ea typeface="Yu Gothic UI Semibold" panose="020B0700000000000000" pitchFamily="34" charset="-128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2230" indent="-286385">
                        <a:lnSpc>
                          <a:spcPts val="1989"/>
                        </a:lnSpc>
                        <a:buChar char="•"/>
                        <a:tabLst>
                          <a:tab pos="1332230" algn="l"/>
                        </a:tabLst>
                      </a:pPr>
                      <a:r>
                        <a:rPr sz="1600" spc="-12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Redirection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18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‘//’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9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in</a:t>
                      </a:r>
                      <a:r>
                        <a:rPr sz="1600" spc="3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34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URL</a:t>
                      </a:r>
                      <a:endParaRPr sz="1600">
                        <a:solidFill>
                          <a:schemeClr val="tx1"/>
                        </a:solidFill>
                        <a:latin typeface="Yu Gothic UI Semibold" panose="020B0700000000000000" pitchFamily="34" charset="-128"/>
                        <a:ea typeface="Yu Gothic UI Semibold" panose="020B0700000000000000" pitchFamily="34" charset="-128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314">
                <a:tc>
                  <a:txBody>
                    <a:bodyPr/>
                    <a:lstStyle/>
                    <a:p>
                      <a:pPr marL="318135" indent="-286385">
                        <a:lnSpc>
                          <a:spcPct val="100000"/>
                        </a:lnSpc>
                        <a:spcBef>
                          <a:spcPts val="265"/>
                        </a:spcBef>
                        <a:buChar char="•"/>
                        <a:tabLst>
                          <a:tab pos="318135" algn="l"/>
                        </a:tabLst>
                      </a:pPr>
                      <a:r>
                        <a:rPr sz="1600" spc="-21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IP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12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Address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10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in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34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URL</a:t>
                      </a:r>
                      <a:endParaRPr sz="1600">
                        <a:solidFill>
                          <a:schemeClr val="tx1"/>
                        </a:solidFill>
                        <a:latin typeface="Yu Gothic UI Semibold" panose="020B0700000000000000" pitchFamily="34" charset="-128"/>
                        <a:ea typeface="Yu Gothic UI Semibold" panose="020B0700000000000000" pitchFamily="34" charset="-128"/>
                        <a:cs typeface="Arial MT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332230" indent="-286385">
                        <a:lnSpc>
                          <a:spcPct val="100000"/>
                        </a:lnSpc>
                        <a:spcBef>
                          <a:spcPts val="265"/>
                        </a:spcBef>
                        <a:buChar char="•"/>
                        <a:tabLst>
                          <a:tab pos="1332230" algn="l"/>
                        </a:tabLst>
                      </a:pPr>
                      <a:r>
                        <a:rPr sz="1600" spc="-3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‘http/https’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10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in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15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Domain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name</a:t>
                      </a:r>
                      <a:endParaRPr sz="1600">
                        <a:solidFill>
                          <a:schemeClr val="tx1"/>
                        </a:solidFill>
                        <a:latin typeface="Yu Gothic UI Semibold" panose="020B0700000000000000" pitchFamily="34" charset="-128"/>
                        <a:ea typeface="Yu Gothic UI Semibold" panose="020B0700000000000000" pitchFamily="34" charset="-128"/>
                        <a:cs typeface="Arial MT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296">
                <a:tc>
                  <a:txBody>
                    <a:bodyPr/>
                    <a:lstStyle/>
                    <a:p>
                      <a:pPr marL="318135" indent="-286385">
                        <a:lnSpc>
                          <a:spcPct val="100000"/>
                        </a:lnSpc>
                        <a:spcBef>
                          <a:spcPts val="265"/>
                        </a:spcBef>
                        <a:buChar char="•"/>
                        <a:tabLst>
                          <a:tab pos="318135" algn="l"/>
                        </a:tabLst>
                      </a:pPr>
                      <a:r>
                        <a:rPr sz="160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‘@’</a:t>
                      </a:r>
                      <a:r>
                        <a:rPr sz="1600" spc="-3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12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Symbol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10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in</a:t>
                      </a:r>
                      <a:r>
                        <a:rPr sz="1600" spc="-2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34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URL</a:t>
                      </a:r>
                      <a:endParaRPr sz="1600" dirty="0">
                        <a:solidFill>
                          <a:schemeClr val="tx1"/>
                        </a:solidFill>
                        <a:latin typeface="Yu Gothic UI Semibold" panose="020B0700000000000000" pitchFamily="34" charset="-128"/>
                        <a:ea typeface="Yu Gothic UI Semibold" panose="020B0700000000000000" pitchFamily="34" charset="-128"/>
                        <a:cs typeface="Arial MT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332230" indent="-286385">
                        <a:lnSpc>
                          <a:spcPct val="100000"/>
                        </a:lnSpc>
                        <a:spcBef>
                          <a:spcPts val="265"/>
                        </a:spcBef>
                        <a:buChar char="•"/>
                        <a:tabLst>
                          <a:tab pos="1332230" algn="l"/>
                        </a:tabLst>
                      </a:pPr>
                      <a:r>
                        <a:rPr sz="1600" spc="-16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Using</a:t>
                      </a:r>
                      <a:r>
                        <a:rPr sz="1600" spc="4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31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URL</a:t>
                      </a:r>
                      <a:r>
                        <a:rPr sz="1600" spc="2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12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Shortening</a:t>
                      </a:r>
                      <a:r>
                        <a:rPr sz="1600" spc="2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6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Service</a:t>
                      </a:r>
                      <a:endParaRPr sz="1600" dirty="0">
                        <a:solidFill>
                          <a:schemeClr val="tx1"/>
                        </a:solidFill>
                        <a:latin typeface="Yu Gothic UI Semibold" panose="020B0700000000000000" pitchFamily="34" charset="-128"/>
                        <a:ea typeface="Yu Gothic UI Semibold" panose="020B0700000000000000" pitchFamily="34" charset="-128"/>
                        <a:cs typeface="Arial MT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314">
                <a:tc>
                  <a:txBody>
                    <a:bodyPr/>
                    <a:lstStyle/>
                    <a:p>
                      <a:pPr marL="318135" indent="-286385">
                        <a:lnSpc>
                          <a:spcPct val="100000"/>
                        </a:lnSpc>
                        <a:spcBef>
                          <a:spcPts val="265"/>
                        </a:spcBef>
                        <a:buChar char="•"/>
                        <a:tabLst>
                          <a:tab pos="318135" algn="l"/>
                        </a:tabLst>
                      </a:pPr>
                      <a:r>
                        <a:rPr sz="1600" spc="-15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Length</a:t>
                      </a:r>
                      <a:r>
                        <a:rPr sz="1600" spc="-2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of</a:t>
                      </a:r>
                      <a:r>
                        <a:rPr sz="1600" spc="7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34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URL</a:t>
                      </a:r>
                      <a:endParaRPr sz="1600" dirty="0">
                        <a:solidFill>
                          <a:schemeClr val="tx1"/>
                        </a:solidFill>
                        <a:latin typeface="Yu Gothic UI Semibold" panose="020B0700000000000000" pitchFamily="34" charset="-128"/>
                        <a:ea typeface="Yu Gothic UI Semibold" panose="020B0700000000000000" pitchFamily="34" charset="-128"/>
                        <a:cs typeface="Arial MT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332230" indent="-286385">
                        <a:lnSpc>
                          <a:spcPct val="100000"/>
                        </a:lnSpc>
                        <a:spcBef>
                          <a:spcPts val="265"/>
                        </a:spcBef>
                        <a:buChar char="•"/>
                        <a:tabLst>
                          <a:tab pos="1332230" algn="l"/>
                        </a:tabLst>
                      </a:pPr>
                      <a:r>
                        <a:rPr sz="1600" spc="-5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Prefix</a:t>
                      </a:r>
                      <a:r>
                        <a:rPr sz="1600" spc="-7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or</a:t>
                      </a:r>
                      <a:r>
                        <a:rPr sz="1600" spc="-4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4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Suffix</a:t>
                      </a:r>
                      <a:r>
                        <a:rPr sz="1600" spc="-5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"-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"</a:t>
                      </a:r>
                      <a:r>
                        <a:rPr sz="1600" spc="-5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9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in</a:t>
                      </a:r>
                      <a:r>
                        <a:rPr sz="1600" spc="-3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10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Domain</a:t>
                      </a:r>
                      <a:endParaRPr sz="1600" dirty="0">
                        <a:solidFill>
                          <a:schemeClr val="tx1"/>
                        </a:solidFill>
                        <a:latin typeface="Yu Gothic UI Semibold" panose="020B0700000000000000" pitchFamily="34" charset="-128"/>
                        <a:ea typeface="Yu Gothic UI Semibold" panose="020B0700000000000000" pitchFamily="34" charset="-128"/>
                        <a:cs typeface="Arial MT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063">
                <a:tc>
                  <a:txBody>
                    <a:bodyPr/>
                    <a:lstStyle/>
                    <a:p>
                      <a:pPr marL="318135" indent="-286385">
                        <a:lnSpc>
                          <a:spcPts val="2120"/>
                        </a:lnSpc>
                        <a:spcBef>
                          <a:spcPts val="265"/>
                        </a:spcBef>
                        <a:buChar char="•"/>
                        <a:tabLst>
                          <a:tab pos="318135" algn="l"/>
                        </a:tabLst>
                      </a:pPr>
                      <a:r>
                        <a:rPr sz="1600" spc="-114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Depth</a:t>
                      </a:r>
                      <a:r>
                        <a:rPr sz="1600" spc="-1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of</a:t>
                      </a:r>
                      <a:r>
                        <a:rPr sz="1600" spc="55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 </a:t>
                      </a:r>
                      <a:r>
                        <a:rPr sz="1600" spc="-340" dirty="0">
                          <a:solidFill>
                            <a:schemeClr val="tx1"/>
                          </a:solidFill>
                          <a:latin typeface="Yu Gothic UI Semibold" panose="020B0700000000000000" pitchFamily="34" charset="-128"/>
                          <a:ea typeface="Yu Gothic UI Semibold" panose="020B0700000000000000" pitchFamily="34" charset="-128"/>
                          <a:cs typeface="Arial MT"/>
                        </a:rPr>
                        <a:t>URL</a:t>
                      </a:r>
                      <a:endParaRPr sz="1600">
                        <a:solidFill>
                          <a:schemeClr val="tx1"/>
                        </a:solidFill>
                        <a:latin typeface="Yu Gothic UI Semibold" panose="020B0700000000000000" pitchFamily="34" charset="-128"/>
                        <a:ea typeface="Yu Gothic UI Semibold" panose="020B0700000000000000" pitchFamily="34" charset="-128"/>
                        <a:cs typeface="Arial MT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solidFill>
                          <a:schemeClr val="tx1"/>
                        </a:solidFill>
                        <a:latin typeface="Yu Gothic UI Semibold" panose="020B0700000000000000" pitchFamily="34" charset="-128"/>
                        <a:ea typeface="Yu Gothic UI Semibold" panose="020B0700000000000000" pitchFamily="34" charset="-128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995881"/>
            <a:ext cx="6391275" cy="873008"/>
          </a:xfrm>
          <a:prstGeom prst="rect">
            <a:avLst/>
          </a:prstGeom>
        </p:spPr>
        <p:txBody>
          <a:bodyPr vert="horz" wrap="square" lIns="0" tIns="194005" rIns="0" bIns="0" rtlCol="0">
            <a:spAutoFit/>
          </a:bodyPr>
          <a:lstStyle/>
          <a:p>
            <a:pPr marL="312420">
              <a:lnSpc>
                <a:spcPct val="100000"/>
              </a:lnSpc>
              <a:spcBef>
                <a:spcPts val="95"/>
              </a:spcBef>
            </a:pPr>
            <a:r>
              <a:rPr sz="4400" b="1" spc="-730" dirty="0"/>
              <a:t>FEATURE</a:t>
            </a:r>
            <a:r>
              <a:rPr sz="4400" b="1" spc="5" dirty="0"/>
              <a:t> </a:t>
            </a:r>
            <a:r>
              <a:rPr sz="4400" b="1" spc="-555" dirty="0"/>
              <a:t>SELECTION</a:t>
            </a:r>
            <a:r>
              <a:rPr sz="4400" b="1" spc="-15" dirty="0"/>
              <a:t> </a:t>
            </a:r>
            <a:r>
              <a:rPr sz="4000" b="1" spc="-295" dirty="0"/>
              <a:t>(CONT.)</a:t>
            </a:r>
            <a:endParaRPr sz="40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1570227" y="2201335"/>
            <a:ext cx="5088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125000"/>
              <a:buChar char="•"/>
              <a:tabLst>
                <a:tab pos="241300" algn="l"/>
              </a:tabLst>
            </a:pPr>
            <a:r>
              <a:rPr sz="2400" spc="-2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Domain</a:t>
            </a:r>
            <a:r>
              <a:rPr sz="2400" spc="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based</a:t>
            </a:r>
            <a:r>
              <a:rPr sz="2400" spc="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Features</a:t>
            </a:r>
            <a:r>
              <a:rPr sz="24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considered</a:t>
            </a:r>
            <a:r>
              <a:rPr sz="2400" spc="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are:</a:t>
            </a:r>
            <a:endParaRPr sz="24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7875" y="3908223"/>
            <a:ext cx="67557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125000"/>
              <a:buChar char="•"/>
              <a:tabLst>
                <a:tab pos="241300" algn="l"/>
              </a:tabLst>
            </a:pPr>
            <a:r>
              <a:rPr sz="2400" spc="-3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HTML</a:t>
            </a:r>
            <a:r>
              <a:rPr sz="24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4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JavaScript</a:t>
            </a:r>
            <a:r>
              <a:rPr sz="24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based</a:t>
            </a:r>
            <a:r>
              <a:rPr sz="24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Features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considered</a:t>
            </a:r>
            <a:r>
              <a:rPr sz="24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are:</a:t>
            </a:r>
            <a:endParaRPr sz="24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0227" y="5712018"/>
            <a:ext cx="709231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SzPct val="125000"/>
              <a:buChar char="•"/>
              <a:tabLst>
                <a:tab pos="241300" algn="l"/>
              </a:tabLst>
            </a:pPr>
            <a:r>
              <a:rPr sz="24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All</a:t>
            </a:r>
            <a:r>
              <a:rPr sz="2400" spc="-1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together</a:t>
            </a:r>
            <a:r>
              <a:rPr sz="2400" spc="-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17</a:t>
            </a:r>
            <a:r>
              <a:rPr sz="24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features</a:t>
            </a:r>
            <a:r>
              <a:rPr sz="2400" spc="-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are</a:t>
            </a:r>
            <a:r>
              <a:rPr sz="2400" spc="-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extracted</a:t>
            </a:r>
            <a:r>
              <a:rPr sz="2400" spc="-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from</a:t>
            </a:r>
            <a:r>
              <a:rPr sz="2400" spc="-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1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4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400" spc="-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dataset.</a:t>
            </a:r>
            <a:endParaRPr sz="24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181614"/>
              </p:ext>
            </p:extLst>
          </p:nvPr>
        </p:nvGraphicFramePr>
        <p:xfrm>
          <a:off x="1792032" y="2935399"/>
          <a:ext cx="6391275" cy="629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3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7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pPr marL="318135" indent="-286385">
                        <a:lnSpc>
                          <a:spcPts val="1989"/>
                        </a:lnSpc>
                        <a:buChar char="•"/>
                        <a:tabLst>
                          <a:tab pos="318135" algn="l"/>
                        </a:tabLst>
                      </a:pPr>
                      <a:r>
                        <a:rPr sz="1800" spc="-225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DNS</a:t>
                      </a:r>
                      <a:r>
                        <a:rPr sz="1800" spc="2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Record</a:t>
                      </a:r>
                      <a:endParaRPr sz="1800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78280" indent="-286385">
                        <a:lnSpc>
                          <a:spcPts val="1989"/>
                        </a:lnSpc>
                        <a:buChar char="•"/>
                        <a:tabLst>
                          <a:tab pos="1478280" algn="l"/>
                        </a:tabLst>
                      </a:pPr>
                      <a:r>
                        <a:rPr sz="1800" spc="-8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Age</a:t>
                      </a:r>
                      <a:r>
                        <a:rPr sz="1800" spc="-25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2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Domain</a:t>
                      </a:r>
                      <a:endParaRPr sz="180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318135" indent="-286385">
                        <a:lnSpc>
                          <a:spcPts val="2120"/>
                        </a:lnSpc>
                        <a:spcBef>
                          <a:spcPts val="265"/>
                        </a:spcBef>
                        <a:buChar char="•"/>
                        <a:tabLst>
                          <a:tab pos="318135" algn="l"/>
                        </a:tabLst>
                      </a:pPr>
                      <a:r>
                        <a:rPr sz="1800" spc="-9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Website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 Traffic</a:t>
                      </a:r>
                      <a:endParaRPr sz="180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478280" indent="-286385">
                        <a:lnSpc>
                          <a:spcPts val="2120"/>
                        </a:lnSpc>
                        <a:spcBef>
                          <a:spcPts val="265"/>
                        </a:spcBef>
                        <a:buChar char="•"/>
                        <a:tabLst>
                          <a:tab pos="1478280" algn="l"/>
                        </a:tabLst>
                      </a:pPr>
                      <a:r>
                        <a:rPr sz="1800" spc="-22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End</a:t>
                      </a:r>
                      <a:r>
                        <a:rPr sz="1800" spc="-2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5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Period</a:t>
                      </a:r>
                      <a:r>
                        <a:rPr sz="1800" spc="-5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6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5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Domain</a:t>
                      </a:r>
                      <a:endParaRPr sz="1800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053314"/>
              </p:ext>
            </p:extLst>
          </p:nvPr>
        </p:nvGraphicFramePr>
        <p:xfrm>
          <a:off x="1792032" y="4728974"/>
          <a:ext cx="6267449" cy="629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2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5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pPr marL="318135" indent="-286385">
                        <a:lnSpc>
                          <a:spcPts val="1989"/>
                        </a:lnSpc>
                        <a:buChar char="•"/>
                        <a:tabLst>
                          <a:tab pos="318135" algn="l"/>
                        </a:tabLst>
                      </a:pPr>
                      <a:r>
                        <a:rPr sz="1800" spc="-7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Iframe</a:t>
                      </a:r>
                      <a:r>
                        <a:rPr sz="1800" spc="-35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3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Redirection</a:t>
                      </a:r>
                      <a:endParaRPr sz="1800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6385" marR="24130" indent="-286385" algn="r">
                        <a:lnSpc>
                          <a:spcPts val="1989"/>
                        </a:lnSpc>
                        <a:buChar char="•"/>
                        <a:tabLst>
                          <a:tab pos="286385" algn="l"/>
                        </a:tabLst>
                      </a:pPr>
                      <a:r>
                        <a:rPr sz="1800" spc="-9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Disabling</a:t>
                      </a:r>
                      <a:r>
                        <a:rPr sz="1800" spc="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35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Right</a:t>
                      </a:r>
                      <a:r>
                        <a:rPr sz="1800" spc="15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Click</a:t>
                      </a:r>
                      <a:endParaRPr sz="180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318135" indent="-286385">
                        <a:lnSpc>
                          <a:spcPts val="2120"/>
                        </a:lnSpc>
                        <a:spcBef>
                          <a:spcPts val="265"/>
                        </a:spcBef>
                        <a:buChar char="•"/>
                        <a:tabLst>
                          <a:tab pos="318135" algn="l"/>
                        </a:tabLst>
                      </a:pPr>
                      <a:r>
                        <a:rPr sz="1800" spc="-15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Status</a:t>
                      </a:r>
                      <a:r>
                        <a:rPr sz="180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Bar</a:t>
                      </a:r>
                      <a:r>
                        <a:rPr sz="1800" spc="2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5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Customization</a:t>
                      </a:r>
                      <a:endParaRPr sz="1800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286385" marR="26670" indent="-286385" algn="r">
                        <a:lnSpc>
                          <a:spcPts val="2120"/>
                        </a:lnSpc>
                        <a:spcBef>
                          <a:spcPts val="265"/>
                        </a:spcBef>
                        <a:buChar char="•"/>
                        <a:tabLst>
                          <a:tab pos="286385" algn="l"/>
                        </a:tabLst>
                      </a:pPr>
                      <a:r>
                        <a:rPr sz="1800" spc="-9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Website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 Forwarding</a:t>
                      </a:r>
                      <a:endParaRPr sz="1800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0231" y="875276"/>
            <a:ext cx="7187169" cy="934563"/>
          </a:xfrm>
          <a:prstGeom prst="rect">
            <a:avLst/>
          </a:prstGeom>
        </p:spPr>
        <p:txBody>
          <a:bodyPr vert="horz" wrap="square" lIns="0" tIns="194005" rIns="0" bIns="0" rtlCol="0">
            <a:spAutoFit/>
          </a:bodyPr>
          <a:lstStyle/>
          <a:p>
            <a:pPr marL="593090">
              <a:lnSpc>
                <a:spcPct val="100000"/>
              </a:lnSpc>
              <a:spcBef>
                <a:spcPts val="95"/>
              </a:spcBef>
            </a:pPr>
            <a:r>
              <a:rPr sz="4800" b="1" spc="-73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FEATURES</a:t>
            </a:r>
            <a:r>
              <a:rPr sz="4800" b="1" spc="2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z="4800" b="1" spc="-49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DISTRIBUTION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5596" y="2057400"/>
            <a:ext cx="4940808" cy="46969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990600"/>
            <a:ext cx="8825659" cy="873008"/>
          </a:xfrm>
          <a:prstGeom prst="rect">
            <a:avLst/>
          </a:prstGeom>
        </p:spPr>
        <p:txBody>
          <a:bodyPr vert="horz" wrap="square" lIns="0" tIns="194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445" dirty="0"/>
              <a:t>MACHINE</a:t>
            </a:r>
            <a:r>
              <a:rPr sz="4400" b="1" spc="-20" dirty="0"/>
              <a:t> </a:t>
            </a:r>
            <a:r>
              <a:rPr sz="4400" b="1" spc="-434" dirty="0"/>
              <a:t>LEARNING</a:t>
            </a:r>
            <a:r>
              <a:rPr sz="4400" b="1" spc="5" dirty="0"/>
              <a:t> </a:t>
            </a:r>
            <a:r>
              <a:rPr sz="4400" b="1" spc="-52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1600" y="2286000"/>
            <a:ext cx="9664700" cy="4310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SzPct val="125000"/>
              <a:buChar char="•"/>
              <a:tabLst>
                <a:tab pos="240665" algn="l"/>
              </a:tabLst>
            </a:pPr>
            <a:r>
              <a:rPr sz="2200" spc="-2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This</a:t>
            </a:r>
            <a:r>
              <a:rPr sz="22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9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is</a:t>
            </a:r>
            <a:r>
              <a:rPr sz="22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</a:t>
            </a:r>
            <a:r>
              <a:rPr sz="2200" spc="-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supervised</a:t>
            </a:r>
            <a:r>
              <a:rPr sz="2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machine</a:t>
            </a:r>
            <a:r>
              <a:rPr sz="2200" spc="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learning</a:t>
            </a:r>
            <a:r>
              <a:rPr sz="22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task.</a:t>
            </a:r>
            <a:r>
              <a:rPr sz="2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There</a:t>
            </a:r>
            <a:r>
              <a:rPr sz="2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are</a:t>
            </a:r>
            <a:r>
              <a:rPr sz="22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9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two</a:t>
            </a:r>
            <a:r>
              <a:rPr sz="22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major</a:t>
            </a:r>
            <a:r>
              <a:rPr sz="22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types</a:t>
            </a:r>
            <a:r>
              <a:rPr sz="22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of</a:t>
            </a:r>
            <a:r>
              <a:rPr sz="2200" spc="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supervised</a:t>
            </a:r>
            <a:endParaRPr sz="22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2200" spc="-1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machine</a:t>
            </a:r>
            <a:r>
              <a:rPr sz="2200" spc="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learning</a:t>
            </a:r>
            <a:r>
              <a:rPr sz="22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problems,</a:t>
            </a:r>
            <a:r>
              <a:rPr sz="2200" spc="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called</a:t>
            </a:r>
            <a:r>
              <a:rPr sz="22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classification</a:t>
            </a:r>
            <a:r>
              <a:rPr sz="2200" spc="4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2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regression.</a:t>
            </a:r>
            <a:endParaRPr sz="22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0029" marR="5080" indent="-227965">
              <a:lnSpc>
                <a:spcPct val="100000"/>
              </a:lnSpc>
              <a:spcBef>
                <a:spcPts val="1000"/>
              </a:spcBef>
              <a:buSzPct val="125000"/>
              <a:buChar char="•"/>
              <a:tabLst>
                <a:tab pos="241300" algn="l"/>
              </a:tabLst>
            </a:pPr>
            <a:r>
              <a:rPr sz="2200" spc="-2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This</a:t>
            </a:r>
            <a:r>
              <a:rPr sz="22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data</a:t>
            </a:r>
            <a:r>
              <a:rPr sz="22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set</a:t>
            </a:r>
            <a:r>
              <a:rPr sz="2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2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comes</a:t>
            </a:r>
            <a:r>
              <a:rPr sz="22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under</a:t>
            </a:r>
            <a:r>
              <a:rPr sz="2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classification</a:t>
            </a:r>
            <a:r>
              <a:rPr sz="2200" spc="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problem,</a:t>
            </a:r>
            <a:r>
              <a:rPr sz="22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20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as</a:t>
            </a:r>
            <a:r>
              <a:rPr sz="22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2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input</a:t>
            </a:r>
            <a:r>
              <a:rPr sz="22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3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URL</a:t>
            </a:r>
            <a:r>
              <a:rPr sz="22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9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is</a:t>
            </a:r>
            <a:r>
              <a:rPr sz="22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classified</a:t>
            </a:r>
            <a:r>
              <a:rPr sz="2200" spc="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as 	</a:t>
            </a:r>
            <a:r>
              <a:rPr sz="2200" spc="-1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phishing</a:t>
            </a:r>
            <a:r>
              <a:rPr sz="2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(1)</a:t>
            </a:r>
            <a:r>
              <a:rPr sz="22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or</a:t>
            </a:r>
            <a:r>
              <a:rPr sz="22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legitimate</a:t>
            </a:r>
            <a:r>
              <a:rPr sz="22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(0).</a:t>
            </a:r>
            <a:r>
              <a:rPr sz="22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2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machine</a:t>
            </a:r>
            <a:r>
              <a:rPr sz="2200" spc="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learning</a:t>
            </a:r>
            <a:r>
              <a:rPr sz="22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models</a:t>
            </a:r>
            <a:r>
              <a:rPr sz="22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(classification)</a:t>
            </a:r>
            <a:r>
              <a:rPr sz="2200" spc="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considered 	</a:t>
            </a:r>
            <a:r>
              <a:rPr sz="22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to</a:t>
            </a:r>
            <a:r>
              <a:rPr sz="2200" spc="-11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train</a:t>
            </a:r>
            <a:r>
              <a:rPr sz="22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2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dataset</a:t>
            </a:r>
            <a:r>
              <a:rPr sz="22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in</a:t>
            </a:r>
            <a:r>
              <a:rPr sz="22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this</a:t>
            </a:r>
            <a:r>
              <a:rPr sz="2200" spc="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200" spc="-1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notebook</a:t>
            </a:r>
            <a:r>
              <a:rPr sz="22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are:</a:t>
            </a:r>
            <a:endParaRPr sz="22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697230" lvl="1" indent="-227329">
              <a:lnSpc>
                <a:spcPct val="100000"/>
              </a:lnSpc>
              <a:spcBef>
                <a:spcPts val="515"/>
              </a:spcBef>
              <a:buSzPct val="123684"/>
              <a:buChar char="•"/>
              <a:tabLst>
                <a:tab pos="697230" algn="l"/>
              </a:tabLst>
            </a:pPr>
            <a:r>
              <a:rPr sz="1900" spc="-1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Decision</a:t>
            </a:r>
            <a:r>
              <a:rPr sz="1900" spc="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19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Tree</a:t>
            </a:r>
            <a:endParaRPr sz="19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505"/>
              </a:spcBef>
              <a:buSzPct val="123684"/>
              <a:buChar char="•"/>
              <a:tabLst>
                <a:tab pos="697865" algn="l"/>
              </a:tabLst>
            </a:pPr>
            <a:r>
              <a:rPr sz="1900" spc="-2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Random</a:t>
            </a:r>
            <a:r>
              <a:rPr sz="1900" spc="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19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Forest</a:t>
            </a:r>
            <a:endParaRPr sz="19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505"/>
              </a:spcBef>
              <a:buSzPct val="123684"/>
              <a:buChar char="•"/>
              <a:tabLst>
                <a:tab pos="697865" algn="l"/>
              </a:tabLst>
            </a:pPr>
            <a:r>
              <a:rPr sz="1900" spc="-6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Multilayer</a:t>
            </a:r>
            <a:r>
              <a:rPr sz="19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1900" spc="-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Perceptrons</a:t>
            </a:r>
            <a:endParaRPr sz="19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490"/>
              </a:spcBef>
              <a:buSzPct val="123684"/>
              <a:buChar char="•"/>
              <a:tabLst>
                <a:tab pos="697865" algn="l"/>
              </a:tabLst>
            </a:pPr>
            <a:r>
              <a:rPr sz="19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XGBoost</a:t>
            </a:r>
            <a:endParaRPr sz="19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505"/>
              </a:spcBef>
              <a:buSzPct val="123684"/>
              <a:buChar char="•"/>
              <a:tabLst>
                <a:tab pos="697865" algn="l"/>
              </a:tabLst>
            </a:pPr>
            <a:r>
              <a:rPr sz="1900" spc="-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Autoencoder</a:t>
            </a:r>
            <a:r>
              <a:rPr sz="1900" spc="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1900" spc="-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Neural</a:t>
            </a:r>
            <a:r>
              <a:rPr sz="19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19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Network</a:t>
            </a:r>
            <a:endParaRPr sz="19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697865" lvl="1" indent="-227965">
              <a:lnSpc>
                <a:spcPct val="100000"/>
              </a:lnSpc>
              <a:spcBef>
                <a:spcPts val="505"/>
              </a:spcBef>
              <a:buSzPct val="123684"/>
              <a:buChar char="•"/>
              <a:tabLst>
                <a:tab pos="697865" algn="l"/>
              </a:tabLst>
            </a:pPr>
            <a:r>
              <a:rPr sz="1900" spc="-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Support</a:t>
            </a:r>
            <a:r>
              <a:rPr sz="1900" spc="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1900" spc="-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Vector</a:t>
            </a:r>
            <a:r>
              <a:rPr sz="19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19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Machines</a:t>
            </a:r>
            <a:endParaRPr sz="19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3769" y="1102486"/>
            <a:ext cx="5662803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00" b="1" spc="-484" dirty="0"/>
              <a:t>MODEL</a:t>
            </a:r>
            <a:r>
              <a:rPr sz="4800" b="1" spc="-5" dirty="0"/>
              <a:t> </a:t>
            </a:r>
            <a:r>
              <a:rPr sz="4800" b="1" spc="-480"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9621" y="2351653"/>
            <a:ext cx="8695690" cy="116634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95"/>
              </a:spcBef>
              <a:buSzPct val="125000"/>
              <a:buChar char="•"/>
              <a:tabLst>
                <a:tab pos="241300" algn="l"/>
              </a:tabLst>
            </a:pPr>
            <a:r>
              <a:rPr sz="2000" spc="-2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6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models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are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9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evaluated,</a:t>
            </a:r>
            <a:r>
              <a:rPr sz="20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considered</a:t>
            </a:r>
            <a:r>
              <a:rPr sz="2000" spc="-4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metric</a:t>
            </a:r>
            <a:r>
              <a:rPr sz="20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is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accuracy.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235"/>
              </a:spcBef>
              <a:buSzPct val="125000"/>
              <a:buChar char="•"/>
              <a:tabLst>
                <a:tab pos="241300" algn="l"/>
              </a:tabLst>
            </a:pPr>
            <a:r>
              <a:rPr sz="2000" spc="-1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Below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Figure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254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shows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training</a:t>
            </a:r>
            <a:r>
              <a:rPr sz="20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and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test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dataset</a:t>
            </a:r>
            <a:r>
              <a:rPr sz="20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accuracy</a:t>
            </a:r>
            <a:r>
              <a:rPr sz="2000" spc="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by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respective</a:t>
            </a:r>
            <a:r>
              <a:rPr sz="20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8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models: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0794" y="5562600"/>
            <a:ext cx="9088755" cy="6637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10000"/>
              </a:lnSpc>
              <a:spcBef>
                <a:spcPts val="100"/>
              </a:spcBef>
              <a:buSzPct val="125000"/>
              <a:buChar char="•"/>
              <a:tabLst>
                <a:tab pos="241300" algn="l"/>
              </a:tabLst>
            </a:pPr>
            <a:r>
              <a:rPr sz="2000" spc="-1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For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above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it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7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is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clear</a:t>
            </a:r>
            <a:r>
              <a:rPr sz="2000" spc="-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5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that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2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8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XGBoost</a:t>
            </a:r>
            <a:r>
              <a:rPr sz="20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model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gives</a:t>
            </a:r>
            <a:r>
              <a:rPr sz="2000" spc="-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better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performance.</a:t>
            </a:r>
            <a:r>
              <a:rPr sz="2000" spc="-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25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The</a:t>
            </a:r>
            <a:r>
              <a:rPr sz="2000" spc="-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model</a:t>
            </a:r>
            <a:r>
              <a:rPr sz="2000" spc="-1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2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is </a:t>
            </a:r>
            <a:r>
              <a:rPr sz="2000" spc="-1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saved</a:t>
            </a:r>
            <a:r>
              <a:rPr sz="2000" spc="-3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for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7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further</a:t>
            </a:r>
            <a:r>
              <a:rPr sz="2000" spc="-35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 </a:t>
            </a:r>
            <a:r>
              <a:rPr sz="2000" spc="-1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Arial MT"/>
              </a:rPr>
              <a:t>usage.</a:t>
            </a:r>
            <a:endParaRPr sz="20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7162" y="3348293"/>
            <a:ext cx="4305300" cy="21396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1124981"/>
            <a:ext cx="4723639" cy="843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400" b="1" spc="-590" dirty="0"/>
              <a:t>NEXT</a:t>
            </a:r>
            <a:r>
              <a:rPr sz="5400" b="1" spc="5" dirty="0"/>
              <a:t> </a:t>
            </a:r>
            <a:r>
              <a:rPr sz="5400" b="1" spc="-755" dirty="0"/>
              <a:t>STEPS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1143000" y="3094754"/>
            <a:ext cx="10134600" cy="2114746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75"/>
              </a:spcBef>
              <a:buSzPct val="125000"/>
              <a:buChar char="•"/>
              <a:tabLst>
                <a:tab pos="241300" algn="l"/>
              </a:tabLst>
            </a:pPr>
            <a:r>
              <a:rPr spc="-9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Working</a:t>
            </a:r>
            <a:r>
              <a:rPr spc="-8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22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on</a:t>
            </a:r>
            <a:r>
              <a:rPr spc="-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9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this</a:t>
            </a:r>
            <a:r>
              <a:rPr spc="-1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9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project</a:t>
            </a:r>
            <a:r>
              <a:rPr spc="-3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21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is</a:t>
            </a:r>
            <a:r>
              <a:rPr spc="-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7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very</a:t>
            </a:r>
            <a:r>
              <a:rPr spc="-2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14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knowledgeable</a:t>
            </a:r>
            <a:r>
              <a:rPr spc="-1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9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and</a:t>
            </a:r>
            <a:r>
              <a:rPr spc="-1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1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worth</a:t>
            </a:r>
            <a:r>
              <a:rPr spc="-2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6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the</a:t>
            </a:r>
            <a:r>
              <a:rPr spc="-2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effort.</a:t>
            </a:r>
          </a:p>
          <a:p>
            <a:pPr marL="241300" indent="-228600">
              <a:lnSpc>
                <a:spcPct val="100000"/>
              </a:lnSpc>
              <a:spcBef>
                <a:spcPts val="1570"/>
              </a:spcBef>
              <a:buSzPct val="125000"/>
              <a:buChar char="•"/>
              <a:tabLst>
                <a:tab pos="241300" algn="l"/>
              </a:tabLst>
            </a:pPr>
            <a:r>
              <a:rPr spc="-22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Through</a:t>
            </a:r>
            <a:r>
              <a:rPr spc="-3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8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this</a:t>
            </a:r>
            <a:r>
              <a:rPr spc="-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0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project,</a:t>
            </a:r>
            <a:r>
              <a:rPr spc="-6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9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one</a:t>
            </a:r>
            <a:r>
              <a:rPr spc="-2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9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can</a:t>
            </a:r>
            <a:r>
              <a:rPr spc="-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204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know</a:t>
            </a:r>
            <a:r>
              <a:rPr spc="-3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</a:t>
            </a:r>
            <a:r>
              <a:rPr spc="-1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lot </a:t>
            </a:r>
            <a:r>
              <a:rPr spc="-8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about</a:t>
            </a:r>
            <a:r>
              <a:rPr spc="-1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4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the</a:t>
            </a:r>
            <a:r>
              <a:rPr spc="-2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7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phishing</a:t>
            </a:r>
            <a:r>
              <a:rPr spc="-2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8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websites</a:t>
            </a:r>
            <a:r>
              <a:rPr spc="-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0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and</a:t>
            </a:r>
            <a:r>
              <a:rPr spc="-1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2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how</a:t>
            </a:r>
          </a:p>
          <a:p>
            <a:pPr marL="241300">
              <a:lnSpc>
                <a:spcPct val="100000"/>
              </a:lnSpc>
              <a:spcBef>
                <a:spcPts val="580"/>
              </a:spcBef>
            </a:pPr>
            <a:r>
              <a:rPr spc="-13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they</a:t>
            </a:r>
            <a:r>
              <a:rPr spc="-3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are</a:t>
            </a:r>
            <a:r>
              <a:rPr spc="-12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4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differentiated</a:t>
            </a:r>
            <a:r>
              <a:rPr spc="-7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1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from</a:t>
            </a:r>
            <a:r>
              <a:rPr spc="-5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7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legitimate</a:t>
            </a:r>
            <a:r>
              <a:rPr spc="-6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ones.</a:t>
            </a:r>
          </a:p>
          <a:p>
            <a:pPr marL="241300" marR="1062355" indent="-228600">
              <a:lnSpc>
                <a:spcPct val="120000"/>
              </a:lnSpc>
              <a:spcBef>
                <a:spcPts val="1005"/>
              </a:spcBef>
              <a:buSzPct val="125000"/>
              <a:buChar char="•"/>
              <a:tabLst>
                <a:tab pos="241300" algn="l"/>
              </a:tabLst>
            </a:pPr>
            <a:r>
              <a:rPr spc="-28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This</a:t>
            </a:r>
            <a:r>
              <a:rPr spc="-1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9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project</a:t>
            </a:r>
            <a:r>
              <a:rPr spc="-8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204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can</a:t>
            </a:r>
            <a:r>
              <a:rPr spc="-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be</a:t>
            </a:r>
            <a:r>
              <a:rPr spc="-7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3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taken</a:t>
            </a:r>
            <a:r>
              <a:rPr spc="-3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8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further</a:t>
            </a:r>
            <a:r>
              <a:rPr spc="-5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by</a:t>
            </a:r>
            <a:r>
              <a:rPr spc="-3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9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creating</a:t>
            </a:r>
            <a:r>
              <a:rPr spc="-3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</a:t>
            </a:r>
            <a:r>
              <a:rPr spc="-4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4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browser</a:t>
            </a:r>
            <a:r>
              <a:rPr spc="-2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204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extensions</a:t>
            </a:r>
            <a:r>
              <a:rPr spc="-1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2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of </a:t>
            </a:r>
            <a:r>
              <a:rPr spc="-10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developing</a:t>
            </a:r>
            <a:r>
              <a:rPr spc="-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 </a:t>
            </a:r>
            <a:r>
              <a:rPr spc="-2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GUI.</a:t>
            </a:r>
          </a:p>
          <a:p>
            <a:pPr marL="241300" marR="5080" indent="-228600">
              <a:lnSpc>
                <a:spcPct val="120000"/>
              </a:lnSpc>
              <a:spcBef>
                <a:spcPts val="1000"/>
              </a:spcBef>
              <a:buSzPct val="125000"/>
              <a:buChar char="•"/>
              <a:tabLst>
                <a:tab pos="241300" algn="l"/>
              </a:tabLst>
            </a:pPr>
            <a:r>
              <a:rPr spc="-28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These</a:t>
            </a:r>
            <a:r>
              <a:rPr spc="-1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204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should</a:t>
            </a:r>
            <a:r>
              <a:rPr spc="-2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3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classify</a:t>
            </a:r>
            <a:r>
              <a:rPr spc="-4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5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the</a:t>
            </a:r>
            <a:r>
              <a:rPr spc="-1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0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inputted</a:t>
            </a:r>
            <a:r>
              <a:rPr spc="-6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42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URL</a:t>
            </a:r>
            <a:r>
              <a:rPr spc="-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to</a:t>
            </a:r>
            <a:r>
              <a:rPr spc="-15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7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legitimate</a:t>
            </a:r>
            <a:r>
              <a:rPr spc="-2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or</a:t>
            </a:r>
            <a:r>
              <a:rPr spc="-3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8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phishing</a:t>
            </a:r>
            <a:r>
              <a:rPr spc="-2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0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with</a:t>
            </a:r>
            <a:r>
              <a:rPr spc="-3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5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the</a:t>
            </a:r>
            <a:r>
              <a:rPr spc="-1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29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use</a:t>
            </a:r>
            <a:r>
              <a:rPr spc="-2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2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of </a:t>
            </a:r>
            <a:r>
              <a:rPr spc="-15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the</a:t>
            </a:r>
            <a:r>
              <a:rPr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6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saved</a:t>
            </a:r>
            <a:r>
              <a:rPr spc="-5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</a:t>
            </a:r>
            <a:r>
              <a:rPr spc="-1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70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5EE776-6BCE-E071-2B52-0B61ED10E57D}"/>
              </a:ext>
            </a:extLst>
          </p:cNvPr>
          <p:cNvSpPr/>
          <p:nvPr/>
        </p:nvSpPr>
        <p:spPr>
          <a:xfrm>
            <a:off x="3429000" y="3124200"/>
            <a:ext cx="576632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474812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27056</TotalTime>
  <Words>764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Yu Gothic UI Semibold</vt:lpstr>
      <vt:lpstr>Arial</vt:lpstr>
      <vt:lpstr>Arial MT</vt:lpstr>
      <vt:lpstr>Century Gothic</vt:lpstr>
      <vt:lpstr>Wingdings 3</vt:lpstr>
      <vt:lpstr>Ion Boardroom</vt:lpstr>
      <vt:lpstr>PowerPoint Presentation</vt:lpstr>
      <vt:lpstr>INTRODUCTION</vt:lpstr>
      <vt:lpstr>OBJECTIVES</vt:lpstr>
      <vt:lpstr>APPROACH</vt:lpstr>
      <vt:lpstr>DATA COLLECTION</vt:lpstr>
      <vt:lpstr>FEATURE SELECTION</vt:lpstr>
      <vt:lpstr>FEATURE SELECTION (CONT.)</vt:lpstr>
      <vt:lpstr>FEATURES DISTRIBUTION</vt:lpstr>
      <vt:lpstr>MACHINE LEARNING MODELS</vt:lpstr>
      <vt:lpstr>MODEL EVALUATION</vt:lpstr>
      <vt:lpstr>NEXT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WebPage Detection</dc:title>
  <dc:creator>Shreya Gopal Sundari</dc:creator>
  <cp:lastModifiedBy>Hemalatha Sakhamuri</cp:lastModifiedBy>
  <cp:revision>3</cp:revision>
  <dcterms:created xsi:type="dcterms:W3CDTF">2025-12-14T13:46:07Z</dcterms:created>
  <dcterms:modified xsi:type="dcterms:W3CDTF">2026-01-28T05:53:10Z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2025-12-14T00:00:00Z</vt:filetime>
  </property>
  <property fmtid="{D5CDD505-2E9C-101B-9397-08002B2CF9AE}" pid="5" name="Producer">
    <vt:lpwstr>Microsoft® PowerPoint® for Microsoft 365</vt:lpwstr>
  </property>
</Properties>
</file>